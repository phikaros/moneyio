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0.svg" ContentType="image/svg+xml"/>
  <Override PartName="/ppt/media/image12.svg" ContentType="image/svg+xml"/>
  <Override PartName="/ppt/media/image18.svg" ContentType="image/svg+xml"/>
  <Override PartName="/ppt/media/image20.svg" ContentType="image/svg+xml"/>
  <Override PartName="/ppt/media/image23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45.svg" ContentType="image/svg+xml"/>
  <Override PartName="/ppt/media/image4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68" r:id="rId5"/>
    <p:sldId id="288" r:id="rId6"/>
    <p:sldId id="258" r:id="rId7"/>
    <p:sldId id="269" r:id="rId8"/>
    <p:sldId id="270" r:id="rId9"/>
    <p:sldId id="272" r:id="rId10"/>
    <p:sldId id="274" r:id="rId11"/>
    <p:sldId id="273" r:id="rId12"/>
    <p:sldId id="276" r:id="rId13"/>
    <p:sldId id="277" r:id="rId14"/>
    <p:sldId id="278" r:id="rId15"/>
    <p:sldId id="279" r:id="rId16"/>
    <p:sldId id="281" r:id="rId17"/>
    <p:sldId id="282" r:id="rId18"/>
    <p:sldId id="283" r:id="rId19"/>
    <p:sldId id="285" r:id="rId20"/>
    <p:sldId id="286" r:id="rId21"/>
    <p:sldId id="287" r:id="rId22"/>
    <p:sldId id="267" r:id="rId23"/>
  </p:sldIdLst>
  <p:sldSz cx="18288000" cy="10287000"/>
  <p:notesSz cx="6858000" cy="9144000"/>
  <p:embeddedFontLst>
    <p:embeddedFont>
      <p:font typeface="League Spartan" panose="00000800000000000000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Montserrat SemiBold" charset="0"/>
      <p:bold r:id="rId33"/>
    </p:embeddedFont>
    <p:embeddedFont>
      <p:font typeface="Montserrat Medium" charset="0"/>
      <p:regular r:id="rId34"/>
    </p:embeddedFont>
    <p:embeddedFont>
      <p:font typeface="Montserrat ExtraBold" charset="0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4E8"/>
    <a:srgbClr val="4C48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84"/>
        <p:guide pos="28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5316200" y="941070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925800" y="9791700"/>
            <a:ext cx="2133600" cy="365125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5.xml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23.svg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image" Target="../media/image24.emf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image" Target="../media/image28.emf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1.xml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emf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2.xml"/><Relationship Id="rId10" Type="http://schemas.openxmlformats.org/officeDocument/2006/relationships/image" Target="../media/image40.pn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3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image" Target="../media/image43.emf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5.xml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hyperlink" Target="Video%20Project%2021.mp4" TargetMode="Externa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2" Type="http://schemas.openxmlformats.org/officeDocument/2006/relationships/image" Target="../media/image47.svg"/><Relationship Id="rId1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7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8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5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1215" t="-11833" r="-13651" b="-555"/>
            </a:stretch>
          </a:blipFill>
        </p:spPr>
        <p:txBody>
          <a:bodyPr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0210800" y="6072505"/>
            <a:ext cx="2962910" cy="4595495"/>
          </a:xfrm>
          <a:custGeom>
            <a:avLst/>
            <a:gdLst/>
            <a:ahLst/>
            <a:cxnLst/>
            <a:rect l="l" t="t" r="r" b="b"/>
            <a:pathLst>
              <a:path w="2703752" h="3379689">
                <a:moveTo>
                  <a:pt x="2703752" y="0"/>
                </a:moveTo>
                <a:lnTo>
                  <a:pt x="0" y="0"/>
                </a:lnTo>
                <a:lnTo>
                  <a:pt x="0" y="3379689"/>
                </a:lnTo>
                <a:lnTo>
                  <a:pt x="2703752" y="3379689"/>
                </a:lnTo>
                <a:lnTo>
                  <a:pt x="27037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4037693" y="-427173"/>
            <a:ext cx="2703752" cy="3379689"/>
          </a:xfrm>
          <a:custGeom>
            <a:avLst/>
            <a:gdLst/>
            <a:ahLst/>
            <a:cxnLst/>
            <a:rect l="l" t="t" r="r" b="b"/>
            <a:pathLst>
              <a:path w="2703752" h="3379689">
                <a:moveTo>
                  <a:pt x="2703752" y="0"/>
                </a:moveTo>
                <a:lnTo>
                  <a:pt x="0" y="0"/>
                </a:lnTo>
                <a:lnTo>
                  <a:pt x="0" y="3379689"/>
                </a:lnTo>
                <a:lnTo>
                  <a:pt x="2703752" y="3379689"/>
                </a:lnTo>
                <a:lnTo>
                  <a:pt x="27037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512105" y="3202458"/>
            <a:ext cx="7270787" cy="300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7725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PROJET DE FIN DE FORMATION</a:t>
            </a:r>
            <a:endParaRPr lang="en-US" sz="7725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</p:txBody>
      </p:sp>
      <p:sp>
        <p:nvSpPr>
          <p:cNvPr id="7" name="AutoShape 7"/>
          <p:cNvSpPr/>
          <p:nvPr/>
        </p:nvSpPr>
        <p:spPr>
          <a:xfrm flipV="1">
            <a:off x="5562459" y="6058134"/>
            <a:ext cx="7114200" cy="14288"/>
          </a:xfrm>
          <a:prstGeom prst="line">
            <a:avLst/>
          </a:prstGeom>
          <a:ln w="76200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5586962" y="2928703"/>
            <a:ext cx="7114200" cy="14288"/>
          </a:xfrm>
          <a:prstGeom prst="line">
            <a:avLst/>
          </a:prstGeom>
          <a:ln w="76200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5436870" y="2145030"/>
            <a:ext cx="7264400" cy="732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715"/>
              </a:lnSpc>
            </a:pPr>
            <a:r>
              <a:rPr lang="en-US" sz="5390" b="1" spc="949">
                <a:solidFill>
                  <a:srgbClr val="1A150F"/>
                </a:solidFill>
                <a:latin typeface="Montserrat ExtraBold" charset="0"/>
                <a:ea typeface="Garet Bold"/>
                <a:cs typeface="Montserrat ExtraBold" charset="0"/>
                <a:sym typeface="Garet Bold"/>
              </a:rPr>
              <a:t>BIRAM NADA</a:t>
            </a:r>
            <a:endParaRPr lang="en-US" sz="5390" b="1" spc="949">
              <a:solidFill>
                <a:srgbClr val="1A150F"/>
              </a:solidFill>
              <a:latin typeface="Montserrat ExtraBold" charset="0"/>
              <a:ea typeface="Garet Bold"/>
              <a:cs typeface="Montserrat ExtraBold" charset="0"/>
              <a:sym typeface="Gare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86730" y="6134100"/>
            <a:ext cx="5743575" cy="59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4385" b="1" spc="772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06/07/2026</a:t>
            </a:r>
            <a:endParaRPr lang="en-US" sz="4385" b="1" spc="772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508127" y="5997659"/>
            <a:ext cx="5003564" cy="73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15"/>
              </a:lnSpc>
            </a:pPr>
            <a:r>
              <a:rPr lang="en-US" sz="2800" b="1" spc="949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le:</a:t>
            </a:r>
            <a:endParaRPr lang="en-US" sz="2800" b="1" spc="949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2192000" y="7353300"/>
            <a:ext cx="9144000" cy="886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ts val="6200"/>
              </a:lnSpc>
            </a:pPr>
            <a:r>
              <a:rPr lang="en-US" sz="200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Fait et presenté par :  BIRAM Nada</a:t>
            </a:r>
            <a:endParaRPr lang="en-US" sz="200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  <a:p>
            <a:pPr algn="l">
              <a:lnSpc>
                <a:spcPts val="6200"/>
              </a:lnSpc>
            </a:pPr>
            <a:endParaRPr lang="en-US" sz="200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81000" y="7505700"/>
            <a:ext cx="100076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2800" b="1">
                <a:latin typeface="Montserrat SemiBold" charset="0"/>
                <a:ea typeface="Figtree"/>
                <a:cs typeface="Montserrat SemiBold" charset="0"/>
                <a:sym typeface="Figtree"/>
              </a:rPr>
              <a:t>Présenté en vue de l'obtention du diplôme de : </a:t>
            </a:r>
            <a:r>
              <a:rPr lang="en-US" altLang="en-GB" sz="3200" b="1">
                <a:latin typeface="Montserrat SemiBold" charset="0"/>
                <a:ea typeface="Figtree"/>
                <a:cs typeface="Montserrat SemiBold" charset="0"/>
                <a:sym typeface="Figtree"/>
              </a:rPr>
              <a:t>	</a:t>
            </a:r>
            <a:br>
              <a:rPr lang="en-US" altLang="en-GB" sz="3200" b="1">
                <a:latin typeface="Montserrat SemiBold" charset="0"/>
                <a:ea typeface="Figtree"/>
                <a:cs typeface="Montserrat SemiBold" charset="0"/>
                <a:sym typeface="Figtree"/>
              </a:rPr>
            </a:br>
            <a:r>
              <a:rPr lang="en-GB" sz="3200" b="1">
                <a:solidFill>
                  <a:schemeClr val="dk1"/>
                </a:solidFill>
                <a:latin typeface="Montserrat SemiBold" charset="0"/>
                <a:ea typeface="Figtree"/>
                <a:cs typeface="Montserrat SemiBold" charset="0"/>
                <a:sym typeface="Figtree"/>
              </a:rPr>
              <a:t>Technicien spécialisé </a:t>
            </a:r>
            <a:r>
              <a:rPr lang="en-US" altLang="en-GB" sz="3200" b="1">
                <a:solidFill>
                  <a:schemeClr val="dk1"/>
                </a:solidFill>
                <a:latin typeface="Montserrat SemiBold" charset="0"/>
                <a:ea typeface="Figtree"/>
                <a:cs typeface="Montserrat SemiBold" charset="0"/>
                <a:sym typeface="Figtree"/>
              </a:rPr>
              <a:t>e</a:t>
            </a:r>
            <a:r>
              <a:rPr lang="en-GB" sz="3200" b="1">
                <a:solidFill>
                  <a:schemeClr val="dk1"/>
                </a:solidFill>
                <a:latin typeface="Montserrat SemiBold" charset="0"/>
                <a:ea typeface="Figtree"/>
                <a:cs typeface="Montserrat SemiBold" charset="0"/>
                <a:sym typeface="Figtree"/>
              </a:rPr>
              <a:t>n Développement Digital </a:t>
            </a:r>
            <a:endParaRPr lang="en-GB" sz="3200" b="1">
              <a:solidFill>
                <a:schemeClr val="dk1"/>
              </a:solidFill>
              <a:latin typeface="Montserrat SemiBold" charset="0"/>
              <a:ea typeface="Figtree"/>
              <a:cs typeface="Montserrat SemiBold" charset="0"/>
              <a:sym typeface="Figtree"/>
            </a:endParaRPr>
          </a:p>
          <a:p>
            <a:endParaRPr lang="en-GB" altLang="en-US" sz="3200" b="1">
              <a:solidFill>
                <a:schemeClr val="dk1"/>
              </a:solidFill>
              <a:latin typeface="Montserrat SemiBold" charset="0"/>
              <a:ea typeface="Figtree"/>
              <a:cs typeface="Montserrat SemiBold" charset="0"/>
              <a:sym typeface="Figtree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81000" y="8877300"/>
            <a:ext cx="1039812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2800" b="1">
                <a:solidFill>
                  <a:schemeClr val="dk1"/>
                </a:solidFill>
                <a:latin typeface="Montserrat SemiBold" charset="0"/>
                <a:ea typeface="Figtree"/>
                <a:cs typeface="Montserrat SemiBold" charset="0"/>
                <a:sym typeface="Figtree"/>
              </a:rPr>
              <a:t>Sous le thème:</a:t>
            </a:r>
            <a:endParaRPr lang="en-GB" sz="2800" b="1">
              <a:solidFill>
                <a:schemeClr val="dk1"/>
              </a:solidFill>
              <a:latin typeface="Montserrat SemiBold" charset="0"/>
              <a:ea typeface="Figtree"/>
              <a:cs typeface="Montserrat SemiBold" charset="0"/>
              <a:sym typeface="Figtree"/>
            </a:endParaRPr>
          </a:p>
          <a:p>
            <a:r>
              <a:rPr lang="en-US" altLang="en-US" sz="3600">
                <a:solidFill>
                  <a:schemeClr val="dk1"/>
                </a:solidFill>
                <a:latin typeface="Montserrat SemiBold" charset="0"/>
                <a:ea typeface="Figtree"/>
                <a:cs typeface="Montserrat SemiBold" charset="0"/>
                <a:sym typeface="Figtree"/>
              </a:rPr>
              <a:t>Gestion des finances personnelles</a:t>
            </a:r>
            <a:endParaRPr lang="en-US" altLang="en-US" sz="3600">
              <a:solidFill>
                <a:schemeClr val="dk1"/>
              </a:solidFill>
              <a:latin typeface="Montserrat SemiBold" charset="0"/>
              <a:ea typeface="Figtree"/>
              <a:cs typeface="Montserrat SemiBold" charset="0"/>
              <a:sym typeface="Figtree"/>
            </a:endParaRPr>
          </a:p>
          <a:p>
            <a:endParaRPr lang="en-US" altLang="en-US" sz="3600">
              <a:solidFill>
                <a:schemeClr val="dk1"/>
              </a:solidFill>
              <a:latin typeface="Montserrat SemiBold" charset="0"/>
              <a:ea typeface="Figtree"/>
              <a:cs typeface="Montserrat SemiBold" charset="0"/>
              <a:sym typeface="Figtree"/>
            </a:endParaRPr>
          </a:p>
        </p:txBody>
      </p:sp>
      <p:pic>
        <p:nvPicPr>
          <p:cNvPr id="19" name="Picture 18" descr="OFPP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-114300"/>
            <a:ext cx="2150110" cy="2150110"/>
          </a:xfrm>
          <a:prstGeom prst="rect">
            <a:avLst/>
          </a:prstGeom>
        </p:spPr>
      </p:pic>
      <p:pic>
        <p:nvPicPr>
          <p:cNvPr id="20" name="Picture 19" descr="Logo-CMC-Familly_Pluriel_Vect_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1885" y="114935"/>
            <a:ext cx="1936115" cy="1696085"/>
          </a:xfrm>
          <a:prstGeom prst="rect">
            <a:avLst/>
          </a:prstGeom>
        </p:spPr>
      </p:pic>
      <p:pic>
        <p:nvPicPr>
          <p:cNvPr id="21" name="Picture 20" descr="Gemini_Generated_Image_zt1j5zt1j5zt1j5z-removebg-previe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8835" y="-30480"/>
            <a:ext cx="3306445" cy="148717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12496800" y="8039100"/>
            <a:ext cx="9144000" cy="886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ts val="6200"/>
              </a:lnSpc>
            </a:pPr>
            <a:r>
              <a:rPr lang="en-US" sz="200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Encadrant pédagogique: Mme Guelsa Mouna</a:t>
            </a:r>
            <a:endParaRPr lang="en-US" sz="200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2801600" y="8801100"/>
            <a:ext cx="9144000" cy="886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ts val="6200"/>
              </a:lnSpc>
            </a:pPr>
            <a:r>
              <a:rPr lang="en-US" sz="200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Encadrant Professionnel: Mr ZERKEF Abdellah</a:t>
            </a:r>
            <a:endParaRPr lang="en-US" sz="200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0607" t="-43" r="-10000" b="-46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37155" y="2887345"/>
            <a:ext cx="10455275" cy="686562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6200"/>
              </a:lnSpc>
            </a:pPr>
            <a:r>
              <a:rPr lang="en-US" altLang="en-US" sz="253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Introduction</a:t>
            </a:r>
            <a:endParaRPr lang="en-US" altLang="en-US" sz="253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  <a:p>
            <a:pPr algn="l">
              <a:lnSpc>
                <a:spcPts val="6200"/>
              </a:lnSpc>
            </a:pPr>
            <a:r>
              <a:rPr lang="en-US" altLang="en-US" sz="253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Présentation de l'entreprise</a:t>
            </a:r>
            <a:endParaRPr lang="en-US" altLang="en-US" sz="253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  <a:p>
            <a:pPr algn="l">
              <a:lnSpc>
                <a:spcPts val="6200"/>
              </a:lnSpc>
            </a:pPr>
            <a:r>
              <a:rPr lang="en-US" altLang="en-US" sz="253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Problématique</a:t>
            </a:r>
            <a:endParaRPr lang="en-US" altLang="en-US" sz="253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  <a:p>
            <a:pPr algn="l">
              <a:lnSpc>
                <a:spcPts val="6200"/>
              </a:lnSpc>
            </a:pPr>
            <a:r>
              <a:rPr lang="en-US" altLang="en-US" sz="253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Solution proposée</a:t>
            </a:r>
            <a:endParaRPr lang="en-US" altLang="en-US" sz="253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  <a:p>
            <a:pPr algn="l">
              <a:lnSpc>
                <a:spcPts val="6200"/>
              </a:lnSpc>
            </a:pPr>
            <a:r>
              <a:rPr lang="en-US" altLang="en-US" sz="253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Analyse et conception</a:t>
            </a:r>
            <a:endParaRPr lang="en-US" altLang="en-US" sz="253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  <a:p>
            <a:pPr algn="l">
              <a:lnSpc>
                <a:spcPts val="6200"/>
              </a:lnSpc>
            </a:pPr>
            <a:r>
              <a:rPr lang="en-US" altLang="en-US" sz="253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Réalisation technique</a:t>
            </a:r>
            <a:endParaRPr lang="en-US" altLang="en-US" sz="253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  <a:p>
            <a:pPr algn="l">
              <a:lnSpc>
                <a:spcPts val="6200"/>
              </a:lnSpc>
            </a:pPr>
            <a:r>
              <a:rPr lang="en-US" altLang="en-US" sz="253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Démonstration de l'application</a:t>
            </a:r>
            <a:endParaRPr lang="en-US" altLang="en-US" sz="253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  <a:p>
            <a:pPr algn="l">
              <a:lnSpc>
                <a:spcPts val="6200"/>
              </a:lnSpc>
            </a:pPr>
            <a:r>
              <a:rPr lang="en-US" sz="253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Perspectives d’évolution</a:t>
            </a:r>
            <a:endParaRPr lang="en-US" sz="253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  <a:p>
            <a:pPr algn="l">
              <a:lnSpc>
                <a:spcPts val="6200"/>
              </a:lnSpc>
            </a:pPr>
            <a:r>
              <a:rPr lang="en-US" sz="2530" spc="-50">
                <a:solidFill>
                  <a:srgbClr val="1A150F"/>
                </a:solidFill>
                <a:latin typeface="Montserrat SemiBold" charset="0"/>
                <a:ea typeface="Garet"/>
                <a:cs typeface="Montserrat SemiBold" charset="0"/>
                <a:sym typeface="Garet"/>
              </a:rPr>
              <a:t>Conclusion </a:t>
            </a:r>
            <a:endParaRPr lang="en-US" sz="2530" spc="-50">
              <a:solidFill>
                <a:srgbClr val="1A150F"/>
              </a:solidFill>
              <a:latin typeface="Montserrat SemiBold" charset="0"/>
              <a:ea typeface="Garet"/>
              <a:cs typeface="Montserrat SemiBold" charset="0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740130" y="2866390"/>
            <a:ext cx="643255" cy="692467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r">
              <a:lnSpc>
                <a:spcPts val="6200"/>
              </a:lnSpc>
            </a:pPr>
            <a:r>
              <a:rPr lang="en-US" sz="2530" spc="-50">
                <a:solidFill>
                  <a:srgbClr val="4C489E"/>
                </a:solidFill>
                <a:latin typeface="Montserrat ExtraBold" charset="0"/>
                <a:ea typeface="Garet"/>
                <a:cs typeface="Montserrat ExtraBold" charset="0"/>
                <a:sym typeface="Garet"/>
              </a:rPr>
              <a:t>1</a:t>
            </a:r>
            <a:endParaRPr lang="en-US" sz="2530" spc="-50">
              <a:solidFill>
                <a:srgbClr val="4C489E"/>
              </a:solidFill>
              <a:latin typeface="Montserrat ExtraBold" charset="0"/>
              <a:ea typeface="Garet"/>
              <a:cs typeface="Montserrat ExtraBold" charset="0"/>
              <a:sym typeface="Garet"/>
            </a:endParaRPr>
          </a:p>
          <a:p>
            <a:pPr algn="r">
              <a:lnSpc>
                <a:spcPts val="6200"/>
              </a:lnSpc>
            </a:pPr>
            <a:r>
              <a:rPr lang="en-US" sz="2530" spc="-50">
                <a:solidFill>
                  <a:srgbClr val="4C489E"/>
                </a:solidFill>
                <a:latin typeface="Montserrat ExtraBold" charset="0"/>
                <a:ea typeface="Garet"/>
                <a:cs typeface="Montserrat ExtraBold" charset="0"/>
                <a:sym typeface="Garet"/>
              </a:rPr>
              <a:t>2</a:t>
            </a:r>
            <a:endParaRPr lang="en-US" sz="2530" spc="-50">
              <a:solidFill>
                <a:srgbClr val="4C489E"/>
              </a:solidFill>
              <a:latin typeface="Montserrat ExtraBold" charset="0"/>
              <a:ea typeface="Garet"/>
              <a:cs typeface="Montserrat ExtraBold" charset="0"/>
              <a:sym typeface="Garet"/>
            </a:endParaRPr>
          </a:p>
          <a:p>
            <a:pPr algn="r">
              <a:lnSpc>
                <a:spcPts val="6200"/>
              </a:lnSpc>
            </a:pPr>
            <a:r>
              <a:rPr lang="en-US" sz="2530" spc="-50">
                <a:solidFill>
                  <a:srgbClr val="4C489E"/>
                </a:solidFill>
                <a:latin typeface="Montserrat ExtraBold" charset="0"/>
                <a:ea typeface="Garet"/>
                <a:cs typeface="Montserrat ExtraBold" charset="0"/>
                <a:sym typeface="Garet"/>
              </a:rPr>
              <a:t>3</a:t>
            </a:r>
            <a:endParaRPr lang="en-US" sz="2530" spc="-50">
              <a:solidFill>
                <a:srgbClr val="4C489E"/>
              </a:solidFill>
              <a:latin typeface="Montserrat ExtraBold" charset="0"/>
              <a:ea typeface="Garet"/>
              <a:cs typeface="Montserrat ExtraBold" charset="0"/>
              <a:sym typeface="Garet"/>
            </a:endParaRPr>
          </a:p>
          <a:p>
            <a:pPr algn="r">
              <a:lnSpc>
                <a:spcPts val="6200"/>
              </a:lnSpc>
            </a:pPr>
            <a:r>
              <a:rPr lang="en-US" sz="2530" spc="-50">
                <a:solidFill>
                  <a:srgbClr val="4C489E"/>
                </a:solidFill>
                <a:latin typeface="Montserrat ExtraBold" charset="0"/>
                <a:ea typeface="Garet"/>
                <a:cs typeface="Montserrat ExtraBold" charset="0"/>
                <a:sym typeface="Garet"/>
              </a:rPr>
              <a:t>4</a:t>
            </a:r>
            <a:endParaRPr lang="en-US" sz="2530" spc="-50">
              <a:solidFill>
                <a:srgbClr val="4C489E"/>
              </a:solidFill>
              <a:latin typeface="Montserrat ExtraBold" charset="0"/>
              <a:ea typeface="Garet"/>
              <a:cs typeface="Montserrat ExtraBold" charset="0"/>
              <a:sym typeface="Garet"/>
            </a:endParaRPr>
          </a:p>
          <a:p>
            <a:pPr algn="r">
              <a:lnSpc>
                <a:spcPts val="6200"/>
              </a:lnSpc>
            </a:pPr>
            <a:r>
              <a:rPr lang="en-US" sz="2530" spc="-50">
                <a:solidFill>
                  <a:srgbClr val="4C489E"/>
                </a:solidFill>
                <a:latin typeface="Montserrat ExtraBold" charset="0"/>
                <a:ea typeface="Garet"/>
                <a:cs typeface="Montserrat ExtraBold" charset="0"/>
                <a:sym typeface="Garet"/>
              </a:rPr>
              <a:t>5</a:t>
            </a:r>
            <a:endParaRPr lang="en-US" sz="2530" spc="-50">
              <a:solidFill>
                <a:srgbClr val="4C489E"/>
              </a:solidFill>
              <a:latin typeface="Montserrat ExtraBold" charset="0"/>
              <a:ea typeface="Garet"/>
              <a:cs typeface="Montserrat ExtraBold" charset="0"/>
              <a:sym typeface="Garet"/>
            </a:endParaRPr>
          </a:p>
          <a:p>
            <a:pPr algn="r">
              <a:lnSpc>
                <a:spcPts val="6200"/>
              </a:lnSpc>
            </a:pPr>
            <a:r>
              <a:rPr lang="en-US" sz="2530" spc="-50">
                <a:solidFill>
                  <a:srgbClr val="4C489E"/>
                </a:solidFill>
                <a:latin typeface="Montserrat ExtraBold" charset="0"/>
                <a:ea typeface="Garet"/>
                <a:cs typeface="Montserrat ExtraBold" charset="0"/>
                <a:sym typeface="Garet"/>
              </a:rPr>
              <a:t>6</a:t>
            </a:r>
            <a:endParaRPr lang="en-US" sz="2530" spc="-50">
              <a:solidFill>
                <a:srgbClr val="4C489E"/>
              </a:solidFill>
              <a:latin typeface="Montserrat ExtraBold" charset="0"/>
              <a:ea typeface="Garet"/>
              <a:cs typeface="Montserrat ExtraBold" charset="0"/>
              <a:sym typeface="Garet"/>
            </a:endParaRPr>
          </a:p>
          <a:p>
            <a:pPr algn="r">
              <a:lnSpc>
                <a:spcPts val="6200"/>
              </a:lnSpc>
            </a:pPr>
            <a:r>
              <a:rPr lang="en-US" sz="2530" spc="-50">
                <a:solidFill>
                  <a:srgbClr val="4C489E"/>
                </a:solidFill>
                <a:latin typeface="Montserrat ExtraBold" charset="0"/>
                <a:ea typeface="Garet"/>
                <a:cs typeface="Montserrat ExtraBold" charset="0"/>
                <a:sym typeface="Garet"/>
              </a:rPr>
              <a:t>7</a:t>
            </a:r>
            <a:endParaRPr lang="en-US" sz="2530" spc="-50">
              <a:solidFill>
                <a:srgbClr val="4C489E"/>
              </a:solidFill>
              <a:latin typeface="Montserrat ExtraBold" charset="0"/>
              <a:ea typeface="Garet"/>
              <a:cs typeface="Montserrat ExtraBold" charset="0"/>
              <a:sym typeface="Garet"/>
            </a:endParaRPr>
          </a:p>
          <a:p>
            <a:pPr algn="r">
              <a:lnSpc>
                <a:spcPts val="6200"/>
              </a:lnSpc>
            </a:pPr>
            <a:r>
              <a:rPr lang="en-US" sz="2530" spc="-50">
                <a:solidFill>
                  <a:srgbClr val="4C489E"/>
                </a:solidFill>
                <a:latin typeface="Montserrat ExtraBold" charset="0"/>
                <a:ea typeface="Garet"/>
                <a:cs typeface="Montserrat ExtraBold" charset="0"/>
                <a:sym typeface="Garet"/>
              </a:rPr>
              <a:t>8</a:t>
            </a:r>
            <a:endParaRPr lang="en-US" sz="2530" spc="-50">
              <a:solidFill>
                <a:srgbClr val="4C489E"/>
              </a:solidFill>
              <a:latin typeface="Montserrat ExtraBold" charset="0"/>
              <a:ea typeface="Garet"/>
              <a:cs typeface="Montserrat ExtraBold" charset="0"/>
              <a:sym typeface="Garet"/>
            </a:endParaRPr>
          </a:p>
          <a:p>
            <a:pPr algn="r">
              <a:lnSpc>
                <a:spcPts val="6200"/>
              </a:lnSpc>
            </a:pPr>
            <a:r>
              <a:rPr lang="en-US" sz="2530" spc="-50">
                <a:solidFill>
                  <a:srgbClr val="4C489E"/>
                </a:solidFill>
                <a:latin typeface="Montserrat ExtraBold" charset="0"/>
                <a:ea typeface="Garet"/>
                <a:cs typeface="Montserrat ExtraBold" charset="0"/>
                <a:sym typeface="Garet"/>
              </a:rPr>
              <a:t>9</a:t>
            </a:r>
            <a:endParaRPr lang="en-US" sz="2530" spc="-50">
              <a:solidFill>
                <a:srgbClr val="4C489E"/>
              </a:solidFill>
              <a:latin typeface="Montserrat ExtraBold" charset="0"/>
              <a:ea typeface="Garet"/>
              <a:cs typeface="Montserrat ExtraBold" charset="0"/>
              <a:sym typeface="Garet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637000" y="3646898"/>
            <a:ext cx="11746219" cy="0"/>
          </a:xfrm>
          <a:prstGeom prst="line">
            <a:avLst/>
          </a:prstGeom>
          <a:ln w="28575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2637000" y="4462256"/>
            <a:ext cx="11746219" cy="0"/>
          </a:xfrm>
          <a:prstGeom prst="line">
            <a:avLst/>
          </a:prstGeom>
          <a:ln w="28575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2637000" y="5260959"/>
            <a:ext cx="11746219" cy="0"/>
          </a:xfrm>
          <a:prstGeom prst="line">
            <a:avLst/>
          </a:prstGeom>
          <a:ln w="28575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2637000" y="6068782"/>
            <a:ext cx="11746219" cy="0"/>
          </a:xfrm>
          <a:prstGeom prst="line">
            <a:avLst/>
          </a:prstGeom>
          <a:ln w="28575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2637000" y="6837346"/>
            <a:ext cx="11746219" cy="0"/>
          </a:xfrm>
          <a:prstGeom prst="line">
            <a:avLst/>
          </a:prstGeom>
          <a:ln w="28575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2637000" y="7645169"/>
            <a:ext cx="11746219" cy="0"/>
          </a:xfrm>
          <a:prstGeom prst="line">
            <a:avLst/>
          </a:prstGeom>
          <a:ln w="28575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2637000" y="8413377"/>
            <a:ext cx="11746219" cy="0"/>
          </a:xfrm>
          <a:prstGeom prst="line">
            <a:avLst/>
          </a:prstGeom>
          <a:ln w="28575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 flipH="1" flipV="1">
            <a:off x="15393045" y="28204"/>
            <a:ext cx="2894955" cy="3618693"/>
          </a:xfrm>
          <a:custGeom>
            <a:avLst/>
            <a:gdLst/>
            <a:ahLst/>
            <a:cxnLst/>
            <a:rect l="l" t="t" r="r" b="b"/>
            <a:pathLst>
              <a:path w="2894955" h="3618693">
                <a:moveTo>
                  <a:pt x="2894955" y="3618694"/>
                </a:moveTo>
                <a:lnTo>
                  <a:pt x="0" y="3618694"/>
                </a:lnTo>
                <a:lnTo>
                  <a:pt x="0" y="0"/>
                </a:lnTo>
                <a:lnTo>
                  <a:pt x="2894955" y="0"/>
                </a:lnTo>
                <a:lnTo>
                  <a:pt x="2894955" y="36186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1059724"/>
            <a:ext cx="1574800" cy="1574800"/>
          </a:xfrm>
          <a:custGeom>
            <a:avLst/>
            <a:gdLst/>
            <a:ahLst/>
            <a:cxnLst/>
            <a:rect l="l" t="t" r="r" b="b"/>
            <a:pathLst>
              <a:path w="1574800" h="1574800">
                <a:moveTo>
                  <a:pt x="0" y="0"/>
                </a:moveTo>
                <a:lnTo>
                  <a:pt x="1574800" y="0"/>
                </a:lnTo>
                <a:lnTo>
                  <a:pt x="1574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561756" y="1450472"/>
            <a:ext cx="4892065" cy="974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7585" spc="-379">
                <a:solidFill>
                  <a:srgbClr val="1A150F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Sommaire</a:t>
            </a:r>
            <a:endParaRPr lang="en-US" sz="7585" spc="-379">
              <a:solidFill>
                <a:srgbClr val="1A150F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AutoShape 11"/>
          <p:cNvSpPr/>
          <p:nvPr/>
        </p:nvSpPr>
        <p:spPr>
          <a:xfrm>
            <a:off x="2637000" y="9181092"/>
            <a:ext cx="11746219" cy="0"/>
          </a:xfrm>
          <a:prstGeom prst="line">
            <a:avLst/>
          </a:prstGeom>
          <a:ln w="28575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1142804" y="4848326"/>
            <a:ext cx="9136276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6600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1-INTRODUCTION</a:t>
            </a:r>
            <a:endParaRPr lang="en-US" sz="6600" spc="-77">
              <a:solidFill>
                <a:srgbClr val="000000"/>
              </a:solidFill>
              <a:latin typeface="Montserrat SemiBold" charset="0"/>
              <a:ea typeface="League Spartan" panose="00000800000000000000"/>
              <a:cs typeface="Montserrat SemiBold" charset="0"/>
              <a:sym typeface="League Spartan" panose="00000800000000000000"/>
            </a:endParaRPr>
          </a:p>
        </p:txBody>
      </p:sp>
      <p:graphicFrame>
        <p:nvGraphicFramePr>
          <p:cNvPr id="20" name="Table 19"/>
          <p:cNvGraphicFramePr/>
          <p:nvPr>
            <p:custDataLst>
              <p:tags r:id="rId1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E3E4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9448578" y="3695811"/>
            <a:ext cx="8343825" cy="6068236"/>
          </a:xfrm>
          <a:custGeom>
            <a:avLst/>
            <a:gdLst/>
            <a:ahLst/>
            <a:cxnLst/>
            <a:rect l="l" t="t" r="r" b="b"/>
            <a:pathLst>
              <a:path w="8343825" h="6068236">
                <a:moveTo>
                  <a:pt x="0" y="0"/>
                </a:moveTo>
                <a:lnTo>
                  <a:pt x="8343825" y="0"/>
                </a:lnTo>
                <a:lnTo>
                  <a:pt x="8343825" y="6068236"/>
                </a:lnTo>
                <a:lnTo>
                  <a:pt x="0" y="60682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1143000" y="4848225"/>
            <a:ext cx="7969250" cy="2031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00000"/>
              </a:lnSpc>
            </a:pPr>
            <a:r>
              <a:rPr lang="en-US" sz="6600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2-PRESENTATION </a:t>
            </a:r>
            <a:endParaRPr lang="en-US" sz="6600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  <a:p>
            <a:pPr marL="0" lvl="0" indent="0" algn="l">
              <a:lnSpc>
                <a:spcPct val="100000"/>
              </a:lnSpc>
            </a:pPr>
            <a:r>
              <a:rPr lang="en-US" sz="6600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DE L’ENTREPRISE</a:t>
            </a:r>
            <a:endParaRPr lang="en-US" sz="6600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259300" y="9671148"/>
            <a:ext cx="718226" cy="30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5"/>
              </a:lnSpc>
            </a:pPr>
            <a:endParaRPr lang="en-US" sz="1310" b="1" spc="12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9448578" y="3695811"/>
            <a:ext cx="8343825" cy="6068236"/>
          </a:xfrm>
          <a:custGeom>
            <a:avLst/>
            <a:gdLst/>
            <a:ahLst/>
            <a:cxnLst/>
            <a:rect l="l" t="t" r="r" b="b"/>
            <a:pathLst>
              <a:path w="8343825" h="6068236">
                <a:moveTo>
                  <a:pt x="0" y="0"/>
                </a:moveTo>
                <a:lnTo>
                  <a:pt x="8343825" y="0"/>
                </a:lnTo>
                <a:lnTo>
                  <a:pt x="8343825" y="6068236"/>
                </a:lnTo>
                <a:lnTo>
                  <a:pt x="0" y="606823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3" name="Table 2"/>
          <p:cNvGraphicFramePr/>
          <p:nvPr>
            <p:custDataLst>
              <p:tags r:id="rId3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E3E4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-8790686" y="2966531"/>
            <a:ext cx="19562572" cy="476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142804" y="2248001"/>
            <a:ext cx="9136276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1- Présentation de l’entreprise </a:t>
            </a:r>
            <a:endParaRPr 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pic>
        <p:nvPicPr>
          <p:cNvPr id="21" name="Picture 20" descr="Gemini_Generated_Image_zt1j5zt1j5zt1j5z-removebg-pre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423670"/>
            <a:ext cx="3441700" cy="154749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848100"/>
            <a:ext cx="2728595" cy="272859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3848100"/>
            <a:ext cx="2728595" cy="272859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7214235"/>
            <a:ext cx="2728595" cy="272859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0" y="7277100"/>
            <a:ext cx="2728595" cy="272859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3" name="Table 2"/>
          <p:cNvGraphicFramePr/>
          <p:nvPr>
            <p:custDataLst>
              <p:tags r:id="rId6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E3E4E8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944684" y="5219801"/>
            <a:ext cx="9136276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600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3-PROBLEMATIQUE</a:t>
            </a:r>
            <a:endParaRPr lang="en-US" sz="6600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058400" y="3238500"/>
            <a:ext cx="7963535" cy="6195060"/>
          </a:xfrm>
          <a:custGeom>
            <a:avLst/>
            <a:gdLst/>
            <a:ahLst/>
            <a:cxnLst/>
            <a:rect l="l" t="t" r="r" b="b"/>
            <a:pathLst>
              <a:path w="7102716" h="5514290">
                <a:moveTo>
                  <a:pt x="0" y="0"/>
                </a:moveTo>
                <a:lnTo>
                  <a:pt x="7102716" y="0"/>
                </a:lnTo>
                <a:lnTo>
                  <a:pt x="7102716" y="5514291"/>
                </a:lnTo>
                <a:lnTo>
                  <a:pt x="0" y="551429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 Box 1"/>
          <p:cNvSpPr txBox="1"/>
          <p:nvPr/>
        </p:nvSpPr>
        <p:spPr>
          <a:xfrm>
            <a:off x="4305300" y="477456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8885555" y="1934210"/>
            <a:ext cx="8586470" cy="8258810"/>
          </a:xfrm>
          <a:custGeom>
            <a:avLst/>
            <a:gdLst/>
            <a:ahLst/>
            <a:cxnLst/>
            <a:rect l="l" t="t" r="r" b="b"/>
            <a:pathLst>
              <a:path w="6347056" h="6726168">
                <a:moveTo>
                  <a:pt x="0" y="0"/>
                </a:moveTo>
                <a:lnTo>
                  <a:pt x="6347057" y="0"/>
                </a:lnTo>
                <a:lnTo>
                  <a:pt x="6347057" y="6726168"/>
                </a:lnTo>
                <a:lnTo>
                  <a:pt x="0" y="672616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 Box 1"/>
          <p:cNvSpPr txBox="1"/>
          <p:nvPr/>
        </p:nvSpPr>
        <p:spPr>
          <a:xfrm>
            <a:off x="1288415" y="5143500"/>
            <a:ext cx="6620510" cy="681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>
              <a:lnSpc>
                <a:spcPts val="4600"/>
              </a:lnSpc>
            </a:pPr>
            <a:r>
              <a:rPr lang="en-US" sz="7725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4-SOLUTION</a:t>
            </a:r>
            <a:endParaRPr lang="en-US" sz="7725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</p:txBody>
      </p:sp>
      <p:pic>
        <p:nvPicPr>
          <p:cNvPr id="3" name="Picture 2" descr="moneyio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0" y="3314700"/>
            <a:ext cx="2004060" cy="136017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4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057400" y="3619500"/>
            <a:ext cx="7566660" cy="3736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ts val="7800"/>
              </a:lnSpc>
            </a:pPr>
            <a:r>
              <a:rPr lang="en-US" sz="7725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5-ANALYSE </a:t>
            </a:r>
            <a:br>
              <a:rPr lang="en-US" sz="7725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</a:br>
            <a:r>
              <a:rPr lang="en-US" sz="7725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ET CONCEPTION</a:t>
            </a:r>
            <a:endParaRPr lang="en-US" sz="7725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</p:txBody>
      </p:sp>
      <p:sp>
        <p:nvSpPr>
          <p:cNvPr id="3" name="Freeform 6"/>
          <p:cNvSpPr/>
          <p:nvPr/>
        </p:nvSpPr>
        <p:spPr>
          <a:xfrm>
            <a:off x="10287000" y="2705100"/>
            <a:ext cx="7475855" cy="7427595"/>
          </a:xfrm>
          <a:custGeom>
            <a:avLst/>
            <a:gdLst/>
            <a:ahLst/>
            <a:cxnLst/>
            <a:rect l="l" t="t" r="r" b="b"/>
            <a:pathLst>
              <a:path w="7029466" h="7172924">
                <a:moveTo>
                  <a:pt x="0" y="0"/>
                </a:moveTo>
                <a:lnTo>
                  <a:pt x="7029466" y="0"/>
                </a:lnTo>
                <a:lnTo>
                  <a:pt x="7029466" y="7172925"/>
                </a:lnTo>
                <a:lnTo>
                  <a:pt x="0" y="71729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5" name="Table 4"/>
          <p:cNvGraphicFramePr/>
          <p:nvPr>
            <p:custDataLst>
              <p:tags r:id="rId3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-8790686" y="2966531"/>
            <a:ext cx="19562572" cy="476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19200" y="2249398"/>
            <a:ext cx="469753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1-</a:t>
            </a:r>
            <a:endParaRPr 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35150" y="2254250"/>
            <a:ext cx="10241280" cy="589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alt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Méthodologie : UML + processus unifié</a:t>
            </a:r>
            <a:endParaRPr lang="en-US" alt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200" y="3543300"/>
            <a:ext cx="11271250" cy="58115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057265" y="9182100"/>
            <a:ext cx="61734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Figure 1 – Diagramme de cas d’utilisation général du syst</a:t>
            </a:r>
            <a:r>
              <a:rPr lang="en-US" altLang="en-US"/>
              <a:t>è</a:t>
            </a:r>
            <a:r>
              <a:rPr lang="en-US" altLang="en-US"/>
              <a:t>me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-8790686" y="2966531"/>
            <a:ext cx="19562572" cy="476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19200" y="2249398"/>
            <a:ext cx="469753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1-</a:t>
            </a:r>
            <a:endParaRPr 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35150" y="2254250"/>
            <a:ext cx="10241280" cy="589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alt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Méthodologie : UML + processus unifié</a:t>
            </a:r>
            <a:endParaRPr lang="en-US" alt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752600" y="9867900"/>
            <a:ext cx="68205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Figure 2– Diagramme de séquence : processus d’ajout d’une dépense</a:t>
            </a: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5" name="Picture 4" descr="Untitled diagram-2026-07-05-1319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4650" y="3467100"/>
            <a:ext cx="7749540" cy="61544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753600" y="9871710"/>
            <a:ext cx="72605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ym typeface="+mn-ea"/>
              </a:rPr>
              <a:t>Figure 3 : Diagramme de séquence du processus de virement entre comptes</a:t>
            </a:r>
            <a:endParaRPr lang="en-US" altLang="en-US">
              <a:sym typeface="+mn-ea"/>
            </a:endParaRPr>
          </a:p>
        </p:txBody>
      </p:sp>
      <p:pic>
        <p:nvPicPr>
          <p:cNvPr id="8" name="Picture 7" descr="Untitled diagram-2026-07-05-1327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467100"/>
            <a:ext cx="7246620" cy="6279515"/>
          </a:xfrm>
          <a:prstGeom prst="rect">
            <a:avLst/>
          </a:prstGeom>
        </p:spPr>
      </p:pic>
      <p:graphicFrame>
        <p:nvGraphicFramePr>
          <p:cNvPr id="9" name="Table 8"/>
          <p:cNvGraphicFramePr/>
          <p:nvPr>
            <p:custDataLst>
              <p:tags r:id="rId3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-8790686" y="2966531"/>
            <a:ext cx="19562572" cy="476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19200" y="2249398"/>
            <a:ext cx="469753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1.</a:t>
            </a:r>
            <a:endParaRPr 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35150" y="2254250"/>
            <a:ext cx="10241280" cy="589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alt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Méthodologie : UML + processus unifié</a:t>
            </a:r>
            <a:endParaRPr lang="en-US" alt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43600" y="9867900"/>
            <a:ext cx="68205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Figure 4– Diagramme de classes structurel du syst</a:t>
            </a:r>
            <a:r>
              <a:rPr lang="en-US" altLang="en-US"/>
              <a:t>è</a:t>
            </a:r>
            <a:r>
              <a:rPr lang="en-US" altLang="en-US"/>
              <a:t>me</a:t>
            </a:r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0" y="3390900"/>
            <a:ext cx="9401810" cy="629666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8" name="Table 7"/>
          <p:cNvGraphicFramePr/>
          <p:nvPr>
            <p:custDataLst>
              <p:tags r:id="rId2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-8790686" y="2966531"/>
            <a:ext cx="19562572" cy="476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19200" y="2249398"/>
            <a:ext cx="469753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2-</a:t>
            </a:r>
            <a:endParaRPr 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35150" y="2254250"/>
            <a:ext cx="10241280" cy="589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alt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Digramme de Gantt</a:t>
            </a:r>
            <a:endParaRPr lang="en-US" alt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96000" y="9499600"/>
            <a:ext cx="68205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Figure 5 – Diagramme de Gantt</a:t>
            </a:r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924300"/>
            <a:ext cx="16798290" cy="527494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045210" y="4229100"/>
            <a:ext cx="8350250" cy="3736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ts val="7800"/>
              </a:lnSpc>
            </a:pPr>
            <a:r>
              <a:rPr lang="en-US" altLang="en-US" sz="7725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6-REALISATION</a:t>
            </a:r>
            <a:endParaRPr lang="en-US" altLang="en-US" sz="7725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  <a:p>
            <a:pPr algn="l">
              <a:lnSpc>
                <a:spcPts val="7800"/>
              </a:lnSpc>
            </a:pPr>
            <a:r>
              <a:rPr lang="en-US" altLang="en-US" sz="7725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TECHNIQUE</a:t>
            </a:r>
            <a:endParaRPr lang="en-US" altLang="en-US" sz="7725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9982200" y="2679065"/>
            <a:ext cx="7854950" cy="7263765"/>
          </a:xfrm>
          <a:custGeom>
            <a:avLst/>
            <a:gdLst/>
            <a:ahLst/>
            <a:cxnLst/>
            <a:rect l="l" t="t" r="r" b="b"/>
            <a:pathLst>
              <a:path w="6604053" h="6375913">
                <a:moveTo>
                  <a:pt x="0" y="0"/>
                </a:moveTo>
                <a:lnTo>
                  <a:pt x="6604054" y="0"/>
                </a:lnTo>
                <a:lnTo>
                  <a:pt x="6604054" y="6375914"/>
                </a:lnTo>
                <a:lnTo>
                  <a:pt x="0" y="637591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-8790686" y="2966531"/>
            <a:ext cx="19562572" cy="476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19200" y="2249398"/>
            <a:ext cx="469753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1-</a:t>
            </a:r>
            <a:endParaRPr 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35150" y="2254250"/>
            <a:ext cx="10241280" cy="589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alt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Outils, langage et Framework utilisés :</a:t>
            </a:r>
            <a:endParaRPr lang="en-US" alt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pic>
        <p:nvPicPr>
          <p:cNvPr id="22" name="Picture 21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4270" y="2781300"/>
            <a:ext cx="3162300" cy="3463925"/>
          </a:xfrm>
          <a:prstGeom prst="rect">
            <a:avLst/>
          </a:prstGeom>
        </p:spPr>
      </p:pic>
      <p:pic>
        <p:nvPicPr>
          <p:cNvPr id="611" name="Google Shape;611;p5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2649200" y="6819900"/>
            <a:ext cx="3924935" cy="1943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5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334000" y="7350760"/>
            <a:ext cx="3157855" cy="1922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5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8991600" y="6909435"/>
            <a:ext cx="3883660" cy="243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72465" y="3771900"/>
            <a:ext cx="4485640" cy="2130425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7"/>
          <a:stretch>
            <a:fillRect/>
          </a:stretch>
        </p:blipFill>
        <p:spPr>
          <a:xfrm>
            <a:off x="533400" y="3695700"/>
            <a:ext cx="4594860" cy="2320925"/>
          </a:xfrm>
          <a:prstGeom prst="rect">
            <a:avLst/>
          </a:prstGeom>
        </p:spPr>
      </p:pic>
      <p:pic>
        <p:nvPicPr>
          <p:cNvPr id="28" name="Picture 27"/>
          <p:cNvPicPr/>
          <p:nvPr/>
        </p:nvPicPr>
        <p:blipFill>
          <a:blip r:embed="rId8"/>
          <a:stretch>
            <a:fillRect/>
          </a:stretch>
        </p:blipFill>
        <p:spPr>
          <a:xfrm>
            <a:off x="4648200" y="3966210"/>
            <a:ext cx="5210175" cy="1820545"/>
          </a:xfrm>
          <a:prstGeom prst="rect">
            <a:avLst/>
          </a:prstGeom>
        </p:spPr>
      </p:pic>
      <p:pic>
        <p:nvPicPr>
          <p:cNvPr id="29" name="Picture 28"/>
          <p:cNvPicPr/>
          <p:nvPr/>
        </p:nvPicPr>
        <p:blipFill>
          <a:blip r:embed="rId9"/>
          <a:stretch>
            <a:fillRect/>
          </a:stretch>
        </p:blipFill>
        <p:spPr>
          <a:xfrm>
            <a:off x="1143000" y="6819900"/>
            <a:ext cx="2925445" cy="2788285"/>
          </a:xfrm>
          <a:prstGeom prst="rect">
            <a:avLst/>
          </a:prstGeom>
        </p:spPr>
      </p:pic>
      <p:pic>
        <p:nvPicPr>
          <p:cNvPr id="30" name="Picture 29"/>
          <p:cNvPicPr/>
          <p:nvPr/>
        </p:nvPicPr>
        <p:blipFill>
          <a:blip r:embed="rId10"/>
          <a:stretch>
            <a:fillRect/>
          </a:stretch>
        </p:blipFill>
        <p:spPr>
          <a:xfrm>
            <a:off x="13196570" y="8191500"/>
            <a:ext cx="3890645" cy="131762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1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 flipV="1">
            <a:off x="-8790940" y="2971165"/>
            <a:ext cx="15258415" cy="330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19200" y="2249398"/>
            <a:ext cx="469753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2-</a:t>
            </a:r>
            <a:endParaRPr 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35150" y="2254250"/>
            <a:ext cx="10241280" cy="6953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alt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Interfaces</a:t>
            </a:r>
            <a:endParaRPr lang="en-US" alt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marL="0" lvl="0" indent="0" algn="l">
              <a:lnSpc>
                <a:spcPts val="4600"/>
              </a:lnSpc>
            </a:pPr>
            <a:endParaRPr lang="en-US" alt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pic>
        <p:nvPicPr>
          <p:cNvPr id="3" name="Picture 2" descr="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0" y="1333500"/>
            <a:ext cx="7228840" cy="8414385"/>
          </a:xfrm>
          <a:prstGeom prst="rect">
            <a:avLst/>
          </a:prstGeom>
        </p:spPr>
      </p:pic>
      <p:pic>
        <p:nvPicPr>
          <p:cNvPr id="4" name="Picture 3" descr="nikkient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771900"/>
            <a:ext cx="9215120" cy="577151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0058400" y="9789795"/>
            <a:ext cx="914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Figure 7 – Interface principale du Tableau de bord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600200" y="9715500"/>
            <a:ext cx="914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Figure 6 – Interface de création et d’édition d’une entrée Nikki</a:t>
            </a:r>
            <a:endParaRPr lang="en-US" altLang="en-US"/>
          </a:p>
        </p:txBody>
      </p:sp>
      <p:graphicFrame>
        <p:nvGraphicFramePr>
          <p:cNvPr id="8" name="Table 7"/>
          <p:cNvGraphicFramePr/>
          <p:nvPr>
            <p:custDataLst>
              <p:tags r:id="rId3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 flipV="1">
            <a:off x="-8790940" y="2948940"/>
            <a:ext cx="18251805" cy="5524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19200" y="2249170"/>
            <a:ext cx="824865" cy="589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3-</a:t>
            </a:r>
            <a:endParaRPr 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35150" y="2254250"/>
            <a:ext cx="10241280" cy="6953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alt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Architecture de l’application</a:t>
            </a:r>
            <a:endParaRPr lang="en-US" alt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3800" y="3543300"/>
            <a:ext cx="10426700" cy="58794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791200" y="9258300"/>
            <a:ext cx="9144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Figure 8– Architecture générale de l’application (Client-Serveur)</a:t>
            </a:r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33400" y="4991100"/>
            <a:ext cx="8971280" cy="15557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ts val="7800"/>
              </a:lnSpc>
            </a:pPr>
            <a:r>
              <a:rPr lang="en-US" altLang="en-US" sz="6600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7-</a:t>
            </a:r>
            <a:r>
              <a:rPr lang="en-US" altLang="en-US" sz="6600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  <a:hlinkClick r:id="rId1" action="ppaction://hlinkfile">
                  <a:extLst>
                    <a:ext uri="{DAF060AB-1E55-43B9-8AAB-6FB025537F2F}">
                      <wpsdc:hlinkClr xmlns:wpsdc="http://www.wps.cn/officeDocument/2017/drawingmlCustomData" val="000000"/>
                      <wpsdc:folHlinkClr xmlns:wpsdc="http://www.wps.cn/officeDocument/2017/drawingmlCustomData" val="800080"/>
                      <wpsdc:hlinkUnderline xmlns:wpsdc="http://www.wps.cn/officeDocument/2017/drawingmlCustomData" val="0"/>
                    </a:ext>
                  </a:extLst>
                </a:hlinkClick>
              </a:rPr>
              <a:t>DEMONSTRATION</a:t>
            </a:r>
            <a:endParaRPr lang="en-US" altLang="en-US" sz="6600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  <a:hlinkClick r:id="rId1" action="ppaction://hlinkfile">
                <a:extLst>
                  <a:ext uri="{DAF060AB-1E55-43B9-8AAB-6FB025537F2F}">
                    <wpsdc:hlinkClr xmlns:wpsdc="http://www.wps.cn/officeDocument/2017/drawingmlCustomData" val="000000"/>
                    <wpsdc:folHlinkClr xmlns:wpsdc="http://www.wps.cn/officeDocument/2017/drawingmlCustomData" val="800080"/>
                    <wpsdc:hlinkUnderline xmlns:wpsdc="http://www.wps.cn/officeDocument/2017/drawingmlCustomData" val="0"/>
                  </a:ext>
                </a:extLst>
              </a:hlinkClick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058400" y="2476500"/>
            <a:ext cx="7631430" cy="7388225"/>
          </a:xfrm>
          <a:custGeom>
            <a:avLst/>
            <a:gdLst/>
            <a:ahLst/>
            <a:cxnLst/>
            <a:rect l="l" t="t" r="r" b="b"/>
            <a:pathLst>
              <a:path w="6371453" h="6301947">
                <a:moveTo>
                  <a:pt x="0" y="0"/>
                </a:moveTo>
                <a:lnTo>
                  <a:pt x="6371453" y="0"/>
                </a:lnTo>
                <a:lnTo>
                  <a:pt x="6371453" y="6301947"/>
                </a:lnTo>
                <a:lnTo>
                  <a:pt x="0" y="63019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4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4533900"/>
            <a:ext cx="8849995" cy="4239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ts val="7800"/>
              </a:lnSpc>
            </a:pPr>
            <a:r>
              <a:rPr lang="en-US" altLang="en-US" sz="6600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8-PERSPECTIVES</a:t>
            </a:r>
            <a:br>
              <a:rPr lang="en-US" altLang="en-US" sz="6600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</a:br>
            <a:r>
              <a:rPr lang="en-US" altLang="en-US" sz="6600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D’EVOLUTION </a:t>
            </a:r>
            <a:endParaRPr lang="en-US" altLang="en-US" sz="6600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  <a:p>
            <a:pPr algn="l">
              <a:lnSpc>
                <a:spcPts val="7800"/>
              </a:lnSpc>
            </a:pPr>
            <a:endParaRPr lang="en-US" altLang="en-US" sz="6600" b="1" spc="154">
              <a:solidFill>
                <a:srgbClr val="1A150F"/>
              </a:solidFill>
              <a:latin typeface="Montserrat SemiBold" charset="0"/>
              <a:ea typeface="Garet Bold"/>
              <a:cs typeface="Montserrat SemiBold" charset="0"/>
              <a:sym typeface="Garet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9296400" y="3314700"/>
            <a:ext cx="8401685" cy="5569585"/>
          </a:xfrm>
          <a:custGeom>
            <a:avLst/>
            <a:gdLst/>
            <a:ahLst/>
            <a:cxnLst/>
            <a:rect l="l" t="t" r="r" b="b"/>
            <a:pathLst>
              <a:path w="7727227" h="5001623">
                <a:moveTo>
                  <a:pt x="0" y="0"/>
                </a:moveTo>
                <a:lnTo>
                  <a:pt x="7727228" y="0"/>
                </a:lnTo>
                <a:lnTo>
                  <a:pt x="7727228" y="5001623"/>
                </a:lnTo>
                <a:lnTo>
                  <a:pt x="0" y="500162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 flipV="1">
            <a:off x="-3505200" y="2884805"/>
            <a:ext cx="15258415" cy="330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219200" y="2249398"/>
            <a:ext cx="469753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1-</a:t>
            </a:r>
            <a:endParaRPr 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35150" y="2254250"/>
            <a:ext cx="10241280" cy="6953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altLang="en-US" sz="3900" spc="-77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Perspectives d'évolution</a:t>
            </a:r>
            <a:endParaRPr lang="en-US" altLang="en-US" sz="3900" spc="-77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345" y="3218180"/>
            <a:ext cx="2444115" cy="2444115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1689100" y="7658100"/>
            <a:ext cx="2045970" cy="2046605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3"/>
          <a:stretch>
            <a:fillRect/>
          </a:stretch>
        </p:blipFill>
        <p:spPr>
          <a:xfrm>
            <a:off x="10896600" y="3314700"/>
            <a:ext cx="2266950" cy="2120900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4"/>
          <a:stretch>
            <a:fillRect/>
          </a:stretch>
        </p:blipFill>
        <p:spPr>
          <a:xfrm>
            <a:off x="10820400" y="7200900"/>
            <a:ext cx="2359025" cy="2462530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4038600" y="4051618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sz="2400">
                <a:latin typeface="Montserrat Medium" charset="0"/>
                <a:cs typeface="Montserrat Medium" charset="0"/>
              </a:rPr>
              <a:t>Synchronisation bancaire automatique</a:t>
            </a:r>
            <a:endParaRPr sz="2400">
              <a:latin typeface="Montserrat Medium" charset="0"/>
              <a:cs typeface="Montserrat Medium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3335000" y="4076383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sz="2400">
                <a:latin typeface="Montserrat Medium" charset="0"/>
                <a:cs typeface="Montserrat Medium" charset="0"/>
              </a:rPr>
              <a:t>Système de comptes enfants</a:t>
            </a:r>
            <a:r>
              <a:rPr lang="en-US" sz="2400">
                <a:latin typeface="Montserrat Medium" charset="0"/>
                <a:cs typeface="Montserrat Medium" charset="0"/>
              </a:rPr>
              <a:t> </a:t>
            </a:r>
            <a:r>
              <a:rPr lang="en-US" altLang="en-US" sz="2400">
                <a:latin typeface="Montserrat Medium" charset="0"/>
                <a:cs typeface="Montserrat Medium" charset="0"/>
              </a:rPr>
              <a:t>gestion budgétaire familiale</a:t>
            </a:r>
            <a:endParaRPr lang="en-US" altLang="en-US" sz="2400">
              <a:latin typeface="Montserrat Medium" charset="0"/>
              <a:cs typeface="Montserrat Medium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4114800" y="8529638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sz="2400">
                <a:latin typeface="Montserrat Medium" charset="0"/>
                <a:cs typeface="Montserrat Medium" charset="0"/>
              </a:rPr>
              <a:t>Gabarit budgétaire automatisé (règle des 50/30/20)</a:t>
            </a:r>
            <a:endParaRPr sz="2400">
              <a:latin typeface="Montserrat Medium" charset="0"/>
              <a:cs typeface="Montserrat Medium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3411200" y="8529638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sz="2400">
                <a:latin typeface="Montserrat Medium" charset="0"/>
                <a:cs typeface="Montserrat Medium" charset="0"/>
              </a:rPr>
              <a:t>Catégorie dédiée aux dons (Sadaqa)</a:t>
            </a:r>
            <a:endParaRPr sz="2400">
              <a:latin typeface="Montserrat Medium" charset="0"/>
              <a:cs typeface="Montserrat Medium" charset="0"/>
            </a:endParaRPr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25" name="Table 24"/>
          <p:cNvGraphicFramePr/>
          <p:nvPr>
            <p:custDataLst>
              <p:tags r:id="rId5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1099624" y="5372201"/>
            <a:ext cx="9136276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0"/>
              </a:lnSpc>
            </a:pPr>
            <a:r>
              <a:rPr lang="en-US" sz="6600" b="1" spc="154">
                <a:solidFill>
                  <a:srgbClr val="1A150F"/>
                </a:solidFill>
                <a:latin typeface="Montserrat SemiBold" charset="0"/>
                <a:ea typeface="Garet Bold"/>
                <a:cs typeface="Montserrat SemiBold" charset="0"/>
                <a:sym typeface="Garet Bold"/>
              </a:rPr>
              <a:t>9-CONCLUSION</a:t>
            </a:r>
            <a:endParaRPr lang="en-US" sz="6600" spc="-77">
              <a:solidFill>
                <a:srgbClr val="000000"/>
              </a:solidFill>
              <a:latin typeface="Montserrat SemiBold" charset="0"/>
              <a:ea typeface="League Spartan" panose="00000800000000000000"/>
              <a:cs typeface="Montserrat SemiBold" charset="0"/>
              <a:sym typeface="League Spartan" panose="00000800000000000000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8839200" y="3467100"/>
            <a:ext cx="8813165" cy="6330950"/>
          </a:xfrm>
          <a:custGeom>
            <a:avLst/>
            <a:gdLst/>
            <a:ahLst/>
            <a:cxnLst/>
            <a:rect l="l" t="t" r="r" b="b"/>
            <a:pathLst>
              <a:path w="7441169" h="5411759">
                <a:moveTo>
                  <a:pt x="0" y="0"/>
                </a:moveTo>
                <a:lnTo>
                  <a:pt x="7441169" y="0"/>
                </a:lnTo>
                <a:lnTo>
                  <a:pt x="7441169" y="5411759"/>
                </a:lnTo>
                <a:lnTo>
                  <a:pt x="0" y="541175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0" y="0"/>
          <a:ext cx="18328640" cy="122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  <a:gridCol w="2036515"/>
                <a:gridCol w="2036516"/>
              </a:tblGrid>
              <a:tr h="12217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Introduction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Présentation de l'entreprise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Problématique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Solution proposée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Analyse et conception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Réalisation technique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Démonstration de l'application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/>
                        <a:t>Perspectives d’évolution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2300">
                          <a:sym typeface="+mn-ea"/>
                        </a:rPr>
                        <a:t>Conclusion</a:t>
                      </a:r>
                      <a:endParaRPr lang="en-US" altLang="en-US" sz="2300"/>
                    </a:p>
                  </a:txBody>
                  <a:tcPr anchor="ctr" anchorCtr="0">
                    <a:solidFill>
                      <a:srgbClr val="4C489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1215" t="-11833" r="-13651" b="-555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546555" y="7334484"/>
            <a:ext cx="2703752" cy="3379689"/>
          </a:xfrm>
          <a:custGeom>
            <a:avLst/>
            <a:gdLst/>
            <a:ahLst/>
            <a:cxnLst/>
            <a:rect l="l" t="t" r="r" b="b"/>
            <a:pathLst>
              <a:path w="2703752" h="3379689">
                <a:moveTo>
                  <a:pt x="2703752" y="0"/>
                </a:moveTo>
                <a:lnTo>
                  <a:pt x="0" y="0"/>
                </a:lnTo>
                <a:lnTo>
                  <a:pt x="0" y="3379689"/>
                </a:lnTo>
                <a:lnTo>
                  <a:pt x="2703752" y="3379689"/>
                </a:lnTo>
                <a:lnTo>
                  <a:pt x="27037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5590399" y="7344009"/>
            <a:ext cx="7114200" cy="14288"/>
          </a:xfrm>
          <a:prstGeom prst="line">
            <a:avLst/>
          </a:prstGeom>
          <a:ln w="38100" cap="flat">
            <a:solidFill>
              <a:srgbClr val="1A150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4648200" y="4552950"/>
            <a:ext cx="9336405" cy="2790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55"/>
              </a:lnSpc>
            </a:pPr>
            <a:r>
              <a:rPr lang="en-US" sz="6845" b="1" spc="1204">
                <a:solidFill>
                  <a:srgbClr val="1A150F"/>
                </a:solidFill>
                <a:latin typeface="Montserrat ExtraBold" charset="0"/>
                <a:ea typeface="Garet Bold"/>
                <a:cs typeface="Montserrat ExtraBold" charset="0"/>
                <a:sym typeface="Garet Bold"/>
              </a:rPr>
              <a:t>MERCI POUR VOTRE ATTENTION</a:t>
            </a:r>
            <a:endParaRPr lang="en-US" sz="6845" b="1" spc="1204">
              <a:solidFill>
                <a:srgbClr val="1A150F"/>
              </a:solidFill>
              <a:latin typeface="Montserrat ExtraBold" charset="0"/>
              <a:ea typeface="Garet Bold"/>
              <a:cs typeface="Montserrat ExtraBold" charset="0"/>
              <a:sym typeface="Garet Bold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2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3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4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5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6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7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8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9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10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11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12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13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14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15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16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17.xml><?xml version="1.0" encoding="utf-8"?>
<p:tagLst xmlns:p="http://schemas.openxmlformats.org/presentationml/2006/main">
  <p:tag name="TABLE_ENDDRAG_ORIGIN_RECT" val="1443*96"/>
  <p:tag name="TABLE_ENDDRAG_RECT" val="0*0*1443*96"/>
</p:tagLst>
</file>

<file path=ppt/tags/tag18.xml><?xml version="1.0" encoding="utf-8"?>
<p:tagLst xmlns:p="http://schemas.openxmlformats.org/presentationml/2006/main">
  <p:tag name="TABLE_ENDDRAG_ORIGIN_RECT" val="1443*96"/>
  <p:tag name="TABLE_ENDDRAG_RECT" val="0*0*1443*9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4793</Words>
  <Application>WPS Presentation</Application>
  <PresentationFormat>On-screen Show (4:3)</PresentationFormat>
  <Paragraphs>488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4" baseType="lpstr">
      <vt:lpstr>Arial</vt:lpstr>
      <vt:lpstr>SimSun</vt:lpstr>
      <vt:lpstr>Wingdings</vt:lpstr>
      <vt:lpstr>Garet Bold</vt:lpstr>
      <vt:lpstr>Segoe Print</vt:lpstr>
      <vt:lpstr>Garet</vt:lpstr>
      <vt:lpstr>Figtree</vt:lpstr>
      <vt:lpstr>Bahnschrift SemiBold</vt:lpstr>
      <vt:lpstr>League Spartan</vt:lpstr>
      <vt:lpstr>Calibri</vt:lpstr>
      <vt:lpstr>Microsoft YaHei</vt:lpstr>
      <vt:lpstr>Arial Unicode MS</vt:lpstr>
      <vt:lpstr>Garet Italics</vt:lpstr>
      <vt:lpstr>Arial</vt:lpstr>
      <vt:lpstr>Montserrat SemiBold</vt:lpstr>
      <vt:lpstr>Montserrat Black</vt:lpstr>
      <vt:lpstr>Montserrat Medium</vt:lpstr>
      <vt:lpstr>Montserrat ExtraBold</vt:lpstr>
      <vt:lpstr>Montserrat Thin</vt:lpstr>
      <vt:lpstr>Montserrat Light</vt:lpstr>
      <vt:lpstr>Archivo Black</vt:lpstr>
      <vt:lpstr>Yu Gothic UI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Rapport d'activité Entreprise Infographie Agence Marketing Analyse Tableau Moderne Photos Violet </dc:title>
  <dc:creator/>
  <cp:lastModifiedBy>TaKiYuChi Shiranai</cp:lastModifiedBy>
  <cp:revision>6</cp:revision>
  <dcterms:created xsi:type="dcterms:W3CDTF">2006-08-16T00:00:00Z</dcterms:created>
  <dcterms:modified xsi:type="dcterms:W3CDTF">2026-07-05T13:40:09Z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8135639E57DC43778279C37009CA5863_12</vt:lpwstr>
  </property>
  <property fmtid="{D5CDD505-2E9C-101B-9397-08002B2CF9AE}" pid="3" name="KSOProductBuildVer">
    <vt:lpwstr>1033-12.2.0.23155</vt:lpwstr>
  </property>
</Properties>
</file>